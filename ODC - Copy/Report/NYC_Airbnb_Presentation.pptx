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11.xml" ContentType="application/vnd.openxmlformats-officedocument.presentationml.notesSlide+xml"/>
  <Override PartName="/ppt/charts/chart9.xml" ContentType="application/vnd.openxmlformats-officedocument.drawingml.chart+xml"/>
  <Override PartName="/ppt/notesSlides/notesSlide12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notesSlides/notesSlide13.xml" ContentType="application/vnd.openxmlformats-officedocument.presentationml.notesSlide+xml"/>
  <Override PartName="/ppt/charts/chart12.xml" ContentType="application/vnd.openxmlformats-officedocument.drawingml.chart+xml"/>
  <Override PartName="/ppt/notesSlides/notesSlide14.xml" ContentType="application/vnd.openxmlformats-officedocument.presentationml.notesSlide+xml"/>
  <Override PartName="/ppt/charts/chart13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1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Room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4F6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669-43FE-B60D-724EB272283E}"/>
              </c:ext>
            </c:extLst>
          </c:dPt>
          <c:dPt>
            <c:idx val="1"/>
            <c:bubble3D val="0"/>
            <c:spPr>
              <a:solidFill>
                <a:srgbClr val="E87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669-43FE-B60D-724EB272283E}"/>
              </c:ext>
            </c:extLst>
          </c:dPt>
          <c:dPt>
            <c:idx val="2"/>
            <c:bubble3D val="0"/>
            <c:spPr>
              <a:solidFill>
                <a:srgbClr val="5E7C7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669-43FE-B60D-724EB272283E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1000" b="0" i="0" u="none" strike="noStrike">
                        <a:solidFill>
                          <a:srgbClr val="FFFFFF"/>
                        </a:solidFill>
                        <a:latin typeface="Arial"/>
                      </a:defRPr>
                    </a:pPr>
                    <a:r>
                      <a:rPr lang="en-US" dirty="0">
                        <a:solidFill>
                          <a:schemeClr val="bg1"/>
                        </a:solidFill>
                      </a:rPr>
                      <a:t>51.9%</a:t>
                    </a:r>
                  </a:p>
                </c:rich>
              </c:tx>
              <c:numFmt formatCode="0.0&quot;%&quot;" sourceLinked="0"/>
              <c:spPr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7669-43FE-B60D-724EB272283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pPr>
                      <a:defRPr sz="1000" b="0" i="0" u="none" strike="noStrike">
                        <a:solidFill>
                          <a:srgbClr val="FFFFFF"/>
                        </a:solidFill>
                        <a:latin typeface="Arial"/>
                      </a:defRPr>
                    </a:pPr>
                    <a:fld id="{88126A7A-9125-4B8A-BAA2-152AEF0229C6}" type="VALUE">
                      <a:rPr lang="en-US">
                        <a:solidFill>
                          <a:schemeClr val="tx1"/>
                        </a:solidFill>
                      </a:rPr>
                      <a:pPr>
                        <a:defRPr sz="1000" b="0" i="0" u="none" strike="noStrike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t>[VALUE]</a:t>
                    </a:fld>
                    <a:endParaRPr lang="en-US"/>
                  </a:p>
                </c:rich>
              </c:tx>
              <c:numFmt formatCode="0.0&quot;%&quot;" sourceLinked="0"/>
              <c:spPr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7669-43FE-B60D-724EB272283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pPr>
                      <a:defRPr sz="1000" b="0" i="0" u="none" strike="noStrike">
                        <a:solidFill>
                          <a:srgbClr val="FFFFFF"/>
                        </a:solidFill>
                        <a:latin typeface="Arial"/>
                      </a:defRPr>
                    </a:pPr>
                    <a:fld id="{12785949-E5C0-447D-8C63-EBC35BB361B9}" type="VALUE">
                      <a:rPr lang="en-US" dirty="0">
                        <a:solidFill>
                          <a:schemeClr val="tx1"/>
                        </a:solidFill>
                      </a:rPr>
                      <a:pPr>
                        <a:defRPr sz="1000" b="0" i="0" u="none" strike="noStrike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t>[VALUE]</a:t>
                    </a:fld>
                    <a:endParaRPr lang="en-US"/>
                  </a:p>
                </c:rich>
              </c:tx>
              <c:numFmt formatCode="0.0&quot;%&quot;" sourceLinked="0"/>
              <c:spPr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7669-43FE-B60D-724EB272283E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Entire home/apt</c:v>
                </c:pt>
                <c:pt idx="1">
                  <c:v>Private room</c:v>
                </c:pt>
                <c:pt idx="2">
                  <c:v>Shared room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51.97</c:v>
                </c:pt>
                <c:pt idx="1">
                  <c:v>45.66</c:v>
                </c:pt>
                <c:pt idx="2">
                  <c:v>2.37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669-43FE-B60D-724EB27228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Missing %</c:v>
                </c:pt>
              </c:strCache>
            </c:strRef>
          </c:tx>
          <c:spPr>
            <a:solidFill>
              <a:srgbClr val="0B4F6C"/>
            </a:solidFill>
            <a:effectLst/>
          </c:spPr>
          <c:invertIfNegative val="0"/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last_review</c:v>
                </c:pt>
                <c:pt idx="1">
                  <c:v>reviews_per_month</c:v>
                </c:pt>
                <c:pt idx="2">
                  <c:v>host_name</c:v>
                </c:pt>
                <c:pt idx="3">
                  <c:v>name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20.56</c:v>
                </c:pt>
                <c:pt idx="1">
                  <c:v>20.56</c:v>
                </c:pt>
                <c:pt idx="2">
                  <c:v>0.04</c:v>
                </c:pt>
                <c:pt idx="3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FD-4479-AF5D-64E36F09B14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7C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Listings</c:v>
                </c:pt>
              </c:strCache>
            </c:strRef>
          </c:tx>
          <c:spPr>
            <a:solidFill>
              <a:srgbClr val="0B4F6C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Manhattan</c:v>
                </c:pt>
                <c:pt idx="1">
                  <c:v>Brooklyn</c:v>
                </c:pt>
                <c:pt idx="2">
                  <c:v>Queens</c:v>
                </c:pt>
                <c:pt idx="3">
                  <c:v>Bronx</c:v>
                </c:pt>
                <c:pt idx="4">
                  <c:v>Staten Island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44.3</c:v>
                </c:pt>
                <c:pt idx="1">
                  <c:v>41.1</c:v>
                </c:pt>
                <c:pt idx="2">
                  <c:v>11.6</c:v>
                </c:pt>
                <c:pt idx="3">
                  <c:v>2.2000000000000002</c:v>
                </c:pt>
                <c:pt idx="4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9D-4168-92BD-445F116A8F9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1EE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7C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Price ($)</c:v>
                </c:pt>
              </c:strCache>
            </c:strRef>
          </c:tx>
          <c:spPr>
            <a:solidFill>
              <a:srgbClr val="0B4F6C"/>
            </a:solidFill>
            <a:effectLst/>
          </c:spPr>
          <c:invertIfNegative val="0"/>
          <c:dLbls>
            <c:numFmt formatCode="&quot;$&quot;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Manhattan</c:v>
                </c:pt>
                <c:pt idx="1">
                  <c:v>Brooklyn</c:v>
                </c:pt>
                <c:pt idx="2">
                  <c:v>Staten Island</c:v>
                </c:pt>
                <c:pt idx="3">
                  <c:v>Queens</c:v>
                </c:pt>
                <c:pt idx="4">
                  <c:v>Bronx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150</c:v>
                </c:pt>
                <c:pt idx="1">
                  <c:v>90</c:v>
                </c:pt>
                <c:pt idx="2">
                  <c:v>75</c:v>
                </c:pt>
                <c:pt idx="3">
                  <c:v>75</c:v>
                </c:pt>
                <c:pt idx="4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C5-4557-89A3-27122E4A0C3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Price ($)</c:v>
                </c:pt>
              </c:strCache>
            </c:strRef>
          </c:tx>
          <c:spPr>
            <a:solidFill>
              <a:srgbClr val="E8734A"/>
            </a:solidFill>
            <a:effectLst/>
          </c:spPr>
          <c:invertIfNegative val="0"/>
          <c:dLbls>
            <c:numFmt formatCode="&quot;$&quot;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Manhattan</c:v>
                </c:pt>
                <c:pt idx="1">
                  <c:v>Brooklyn</c:v>
                </c:pt>
                <c:pt idx="2">
                  <c:v>Staten Island</c:v>
                </c:pt>
                <c:pt idx="3">
                  <c:v>Queens</c:v>
                </c:pt>
                <c:pt idx="4">
                  <c:v>Bronx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196.88</c:v>
                </c:pt>
                <c:pt idx="1">
                  <c:v>124.44</c:v>
                </c:pt>
                <c:pt idx="2">
                  <c:v>114.81</c:v>
                </c:pt>
                <c:pt idx="3">
                  <c:v>99.52</c:v>
                </c:pt>
                <c:pt idx="4">
                  <c:v>87.58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9C5-4557-89A3-27122E4A0C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1EE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7C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Entire home/apt</c:v>
                </c:pt>
              </c:strCache>
            </c:strRef>
          </c:tx>
          <c:spPr>
            <a:solidFill>
              <a:srgbClr val="0B4F6C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Bronx</c:v>
                </c:pt>
                <c:pt idx="1">
                  <c:v>Brooklyn</c:v>
                </c:pt>
                <c:pt idx="2">
                  <c:v>Manhattan</c:v>
                </c:pt>
                <c:pt idx="3">
                  <c:v>Queens</c:v>
                </c:pt>
                <c:pt idx="4">
                  <c:v>Staten Island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127.51</c:v>
                </c:pt>
                <c:pt idx="1">
                  <c:v>178.35</c:v>
                </c:pt>
                <c:pt idx="2">
                  <c:v>249.26</c:v>
                </c:pt>
                <c:pt idx="3">
                  <c:v>147.05000000000001</c:v>
                </c:pt>
                <c:pt idx="4">
                  <c:v>173.85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F95-4DD9-AFB5-F42597934C4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Private room</c:v>
                </c:pt>
              </c:strCache>
            </c:strRef>
          </c:tx>
          <c:spPr>
            <a:solidFill>
              <a:srgbClr val="E8734A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Bronx</c:v>
                </c:pt>
                <c:pt idx="1">
                  <c:v>Brooklyn</c:v>
                </c:pt>
                <c:pt idx="2">
                  <c:v>Manhattan</c:v>
                </c:pt>
                <c:pt idx="3">
                  <c:v>Queens</c:v>
                </c:pt>
                <c:pt idx="4">
                  <c:v>Staten Island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66.89</c:v>
                </c:pt>
                <c:pt idx="1">
                  <c:v>76.55</c:v>
                </c:pt>
                <c:pt idx="2">
                  <c:v>116.78</c:v>
                </c:pt>
                <c:pt idx="3">
                  <c:v>71.760000000000005</c:v>
                </c:pt>
                <c:pt idx="4">
                  <c:v>62.29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F95-4DD9-AFB5-F42597934C4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Shared room</c:v>
                </c:pt>
              </c:strCache>
            </c:strRef>
          </c:tx>
          <c:spPr>
            <a:solidFill>
              <a:srgbClr val="5E7C79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Bronx</c:v>
                </c:pt>
                <c:pt idx="1">
                  <c:v>Brooklyn</c:v>
                </c:pt>
                <c:pt idx="2">
                  <c:v>Manhattan</c:v>
                </c:pt>
                <c:pt idx="3">
                  <c:v>Queens</c:v>
                </c:pt>
                <c:pt idx="4">
                  <c:v>Staten Island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59.8</c:v>
                </c:pt>
                <c:pt idx="1">
                  <c:v>50.77</c:v>
                </c:pt>
                <c:pt idx="2">
                  <c:v>88.98</c:v>
                </c:pt>
                <c:pt idx="3">
                  <c:v>69.02</c:v>
                </c:pt>
                <c:pt idx="4">
                  <c:v>57.44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F95-4DD9-AFB5-F42597934C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1EE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E7C79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5E7C79"/>
                    </a:solidFill>
                    <a:latin typeface="Arial"/>
                  </a:rPr>
                  <a:t>Average Price ($)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7C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Reviews</c:v>
                </c:pt>
              </c:strCache>
            </c:strRef>
          </c:tx>
          <c:spPr>
            <a:solidFill>
              <a:srgbClr val="0B4F6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Entire home/apt</c:v>
                </c:pt>
                <c:pt idx="1">
                  <c:v>Private room</c:v>
                </c:pt>
                <c:pt idx="2">
                  <c:v>Shared room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22.84</c:v>
                </c:pt>
                <c:pt idx="1">
                  <c:v>24.1</c:v>
                </c:pt>
                <c:pt idx="2">
                  <c:v>16.62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FD-4BBE-BB4D-AF3854BE008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Avg. Availability (days)</c:v>
                </c:pt>
              </c:strCache>
            </c:strRef>
          </c:tx>
          <c:spPr>
            <a:solidFill>
              <a:srgbClr val="E873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Entire home/apt</c:v>
                </c:pt>
                <c:pt idx="1">
                  <c:v>Private room</c:v>
                </c:pt>
                <c:pt idx="2">
                  <c:v>Shared room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111.93</c:v>
                </c:pt>
                <c:pt idx="1">
                  <c:v>111.2</c:v>
                </c:pt>
                <c:pt idx="2">
                  <c:v>161.87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CFD-4BBE-BB4D-AF3854BE008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1EE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7C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Listings</c:v>
                </c:pt>
              </c:strCache>
            </c:strRef>
          </c:tx>
          <c:spPr>
            <a:solidFill>
              <a:srgbClr val="0B4F6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Williamsburg</c:v>
                </c:pt>
                <c:pt idx="1">
                  <c:v>Bedford-Stuyvesant</c:v>
                </c:pt>
                <c:pt idx="2">
                  <c:v>Harlem</c:v>
                </c:pt>
                <c:pt idx="3">
                  <c:v>Bushwick</c:v>
                </c:pt>
                <c:pt idx="4">
                  <c:v>Upper West Side</c:v>
                </c:pt>
                <c:pt idx="5">
                  <c:v>Hell's Kitchen</c:v>
                </c:pt>
                <c:pt idx="6">
                  <c:v>East Village</c:v>
                </c:pt>
                <c:pt idx="7">
                  <c:v>Upper East Side</c:v>
                </c:pt>
                <c:pt idx="8">
                  <c:v>Crown Heights</c:v>
                </c:pt>
                <c:pt idx="9">
                  <c:v>Midtown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3919</c:v>
                </c:pt>
                <c:pt idx="1">
                  <c:v>3710</c:v>
                </c:pt>
                <c:pt idx="2">
                  <c:v>2658</c:v>
                </c:pt>
                <c:pt idx="3">
                  <c:v>2462</c:v>
                </c:pt>
                <c:pt idx="4">
                  <c:v>1971</c:v>
                </c:pt>
                <c:pt idx="5">
                  <c:v>1958</c:v>
                </c:pt>
                <c:pt idx="6">
                  <c:v>1853</c:v>
                </c:pt>
                <c:pt idx="7">
                  <c:v>1798</c:v>
                </c:pt>
                <c:pt idx="8">
                  <c:v>1564</c:v>
                </c:pt>
                <c:pt idx="9">
                  <c:v>1545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2F-49E4-A05F-22568CA1323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F29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E7C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Reviews</c:v>
                </c:pt>
              </c:strCache>
            </c:strRef>
          </c:tx>
          <c:spPr>
            <a:solidFill>
              <a:srgbClr val="E873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Silver Lake (n=2)</c:v>
                </c:pt>
                <c:pt idx="1">
                  <c:v>East Elmhurst (n=185)</c:v>
                </c:pt>
                <c:pt idx="2">
                  <c:v>Richmondtown (n=1)</c:v>
                </c:pt>
                <c:pt idx="3">
                  <c:v>Eltingville (n=3)</c:v>
                </c:pt>
                <c:pt idx="4">
                  <c:v>Mount Eden (n=6)</c:v>
                </c:pt>
                <c:pt idx="5">
                  <c:v>Springfield Gdns (n=85)</c:v>
                </c:pt>
                <c:pt idx="6">
                  <c:v>Tompkinsville (n=42)</c:v>
                </c:pt>
                <c:pt idx="7">
                  <c:v>Huguenot (n=3)</c:v>
                </c:pt>
                <c:pt idx="8">
                  <c:v>Manhattan Beach (n=8)</c:v>
                </c:pt>
                <c:pt idx="9">
                  <c:v>Highbridge (n=27)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118.5</c:v>
                </c:pt>
                <c:pt idx="1">
                  <c:v>81.66</c:v>
                </c:pt>
                <c:pt idx="2">
                  <c:v>79</c:v>
                </c:pt>
                <c:pt idx="3">
                  <c:v>76</c:v>
                </c:pt>
                <c:pt idx="4">
                  <c:v>70</c:v>
                </c:pt>
                <c:pt idx="5">
                  <c:v>69.09</c:v>
                </c:pt>
                <c:pt idx="6">
                  <c:v>57.14</c:v>
                </c:pt>
                <c:pt idx="7">
                  <c:v>55.67</c:v>
                </c:pt>
                <c:pt idx="8">
                  <c:v>50.63</c:v>
                </c:pt>
                <c:pt idx="9">
                  <c:v>48.81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DE-4C0F-82B7-6ADDB995C94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F29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E7C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Listings</c:v>
                </c:pt>
              </c:strCache>
            </c:strRef>
          </c:tx>
          <c:spPr>
            <a:solidFill>
              <a:srgbClr val="0B4F6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Vida</c:v>
                </c:pt>
                <c:pt idx="1">
                  <c:v>Pranjal</c:v>
                </c:pt>
                <c:pt idx="2">
                  <c:v>Ken</c:v>
                </c:pt>
                <c:pt idx="3">
                  <c:v>Corporate Housing</c:v>
                </c:pt>
                <c:pt idx="4">
                  <c:v>Sonder</c:v>
                </c:pt>
                <c:pt idx="5">
                  <c:v>Jeremy &amp; Laura</c:v>
                </c:pt>
                <c:pt idx="6">
                  <c:v>Kazuya</c:v>
                </c:pt>
                <c:pt idx="7">
                  <c:v>Kara</c:v>
                </c:pt>
                <c:pt idx="8">
                  <c:v>Blueground</c:v>
                </c:pt>
                <c:pt idx="9">
                  <c:v>Sonder (NYC)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52</c:v>
                </c:pt>
                <c:pt idx="1">
                  <c:v>65</c:v>
                </c:pt>
                <c:pt idx="2">
                  <c:v>87</c:v>
                </c:pt>
                <c:pt idx="3">
                  <c:v>91</c:v>
                </c:pt>
                <c:pt idx="4">
                  <c:v>96</c:v>
                </c:pt>
                <c:pt idx="5">
                  <c:v>96</c:v>
                </c:pt>
                <c:pt idx="6">
                  <c:v>103</c:v>
                </c:pt>
                <c:pt idx="7">
                  <c:v>121</c:v>
                </c:pt>
                <c:pt idx="8">
                  <c:v>232</c:v>
                </c:pt>
                <c:pt idx="9">
                  <c:v>327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6F-4153-945D-B9437E4B4EF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F29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7C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Price</c:v>
                </c:pt>
              </c:strCache>
            </c:strRef>
          </c:tx>
          <c:spPr>
            <a:solidFill>
              <a:srgbClr val="0B4F6C"/>
            </a:solidFill>
            <a:effectLst/>
          </c:spPr>
          <c:invertIfNegative val="0"/>
          <c:dLbls>
            <c:numFmt formatCode="&quot;$&quot;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 Listing (n=32,301)</c:v>
                </c:pt>
                <c:pt idx="1">
                  <c:v>2-5 (n=11,792)</c:v>
                </c:pt>
                <c:pt idx="2">
                  <c:v>6-10 (n=1,824)</c:v>
                </c:pt>
                <c:pt idx="3">
                  <c:v>11-50 (n=1,645)</c:v>
                </c:pt>
                <c:pt idx="4">
                  <c:v>50+ (n=1,322)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119</c:v>
                </c:pt>
                <c:pt idx="1">
                  <c:v>85</c:v>
                </c:pt>
                <c:pt idx="2">
                  <c:v>75</c:v>
                </c:pt>
                <c:pt idx="3">
                  <c:v>130</c:v>
                </c:pt>
                <c:pt idx="4">
                  <c:v>215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EC-4D00-83F8-97512E67B6C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E7C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Reviews</c:v>
                </c:pt>
              </c:strCache>
            </c:strRef>
          </c:tx>
          <c:spPr>
            <a:solidFill>
              <a:srgbClr val="E873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 Listing (n=32,301)</c:v>
                </c:pt>
                <c:pt idx="1">
                  <c:v>2-5 (n=11,792)</c:v>
                </c:pt>
                <c:pt idx="2">
                  <c:v>6-10 (n=1,824)</c:v>
                </c:pt>
                <c:pt idx="3">
                  <c:v>11-50 (n=1,645)</c:v>
                </c:pt>
                <c:pt idx="4">
                  <c:v>50+ (n=1,322)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20.420000000000002</c:v>
                </c:pt>
                <c:pt idx="1">
                  <c:v>35.340000000000003</c:v>
                </c:pt>
                <c:pt idx="2">
                  <c:v>22.03</c:v>
                </c:pt>
                <c:pt idx="3">
                  <c:v>11.32</c:v>
                </c:pt>
                <c:pt idx="4">
                  <c:v>1.91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DE-4E8C-9F8D-0BB178F79CF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E7C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Price ($)</c:v>
                </c:pt>
              </c:strCache>
            </c:strRef>
          </c:tx>
          <c:spPr>
            <a:solidFill>
              <a:srgbClr val="0B4F6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 Night</c:v>
                </c:pt>
                <c:pt idx="1">
                  <c:v>2-3 Nights</c:v>
                </c:pt>
                <c:pt idx="2">
                  <c:v>4-7 Nights</c:v>
                </c:pt>
                <c:pt idx="3">
                  <c:v>8-30 Nights</c:v>
                </c:pt>
                <c:pt idx="4">
                  <c:v>30+ Nights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</c:v>
                </c:pt>
                <c:pt idx="1">
                  <c:v>118</c:v>
                </c:pt>
                <c:pt idx="2">
                  <c:v>120</c:v>
                </c:pt>
                <c:pt idx="3">
                  <c:v>120</c:v>
                </c:pt>
                <c:pt idx="4">
                  <c:v>120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0A-41C5-8E49-B127D328025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Reviews</c:v>
                </c:pt>
              </c:strCache>
            </c:strRef>
          </c:tx>
          <c:spPr>
            <a:solidFill>
              <a:srgbClr val="E873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 Night</c:v>
                </c:pt>
                <c:pt idx="1">
                  <c:v>2-3 Nights</c:v>
                </c:pt>
                <c:pt idx="2">
                  <c:v>4-7 Nights</c:v>
                </c:pt>
                <c:pt idx="3">
                  <c:v>8-30 Nights</c:v>
                </c:pt>
                <c:pt idx="4">
                  <c:v>30+ Nights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29.13</c:v>
                </c:pt>
                <c:pt idx="1">
                  <c:v>28.3</c:v>
                </c:pt>
                <c:pt idx="2">
                  <c:v>16.41</c:v>
                </c:pt>
                <c:pt idx="3">
                  <c:v>7.88</c:v>
                </c:pt>
                <c:pt idx="4">
                  <c:v>10.76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40A-41C5-8E49-B127D328025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1EE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7C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6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Premium Listings</c:v>
                </c:pt>
              </c:strCache>
            </c:strRef>
          </c:tx>
          <c:spPr>
            <a:solidFill>
              <a:srgbClr val="0B4F6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Entire home/apt</c:v>
                </c:pt>
                <c:pt idx="1">
                  <c:v>Private room</c:v>
                </c:pt>
                <c:pt idx="2">
                  <c:v>Shared room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4416</c:v>
                </c:pt>
                <c:pt idx="1">
                  <c:v>466</c:v>
                </c:pt>
                <c:pt idx="2">
                  <c:v>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50-4F6E-A74E-A3765032A9E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1EE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7C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6156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I'm walking through an analysis of NYC's Airbnb listings — where they're located, how they're priced, and what separates individual hosts from professional operators.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we look at any charts, it's worth being clear about what this dataset can and can't answer — it's about listings, not confirmed bookings, so we're studying supply and engagement, not revenue.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listing-level data, one row per Airbnb listing, as of 2019. It tells us about supply and engagement signals like reviews, not confirmed revenue or occupancy.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quality here was good — no duplicates, minimal missing data. We did flag, but the notebook did not actually remove, a small number of unrealistic minimum-stay values, so we're carrying that caveat forward.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sets up the rest of the deck. Nothing here strongly predicts price on its own, so the interesting patterns come from grouping by borough and room type, not a single numeric driver.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boroughs make up over 85% of all listings. Anything we say later about NYC pricing is really mostly describing Manhattan and Brooklyn.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Manhattan is clearly the premium market. Just be careful comparing Staten Island to the others — it's a tiny slice of the data, so its average is more volatile.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It's not just that Manhattan is expensive — Manhattan also has proportionally more whole-apartment listings, and those are priced completely differently from a private room. Both factors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assumed more available nights equals more reviews, the data doesn't really back that up. Shared rooms are sitting open the most and getting reviewed the least.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word of caution here — a neighbourhood with two listings and one great review average isn't a trend, it's a coincidence. East Elmhurst and Springfield Gardens are the ones actually worth a second look.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Names like Sonder and Blueground aren't a random host with an extra bedroom — they're companies operating dozens to hundreds of units. That matters for the next slide, where portfolio size and strategy line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probably the most interesting behavioral finding here. Big operators aren't chasing reviews the way an individual host might — they're pricing high and staying available, which looks like a different business model, not a failing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30+ Nights group is small and includes a few genuinely extreme values we flagged earlier, so I'd treat that top-line average price with a grain of salt. The broader pattern — shorter stays get reviewed more — is solid across the bigger groups.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premium tier is basically the premium-apartment tier. The private and shared rooms that cross the $269 threshold are a handful of outliers, not a real market segment.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remember six numbers from this deck, these are them. Everything else was building toward this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one-slide leave-behind if someone only reads a single page of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grounded in what the data actually shows — I'm deliberately not recommending anything around occupancy or revenue, because this dataset just doesn't have that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 of this invalidates the findings — it just tells you how far to trust them, and where a follow-up analysis would need better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headline is simple: where you list and what you list matter more than almost anything else in this dataset. Everything past that needs data we don't have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F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071511" cy="457200"/>
          </a:xfrm>
          <a:prstGeom prst="rect">
            <a:avLst/>
          </a:prstGeom>
          <a:solidFill>
            <a:srgbClr val="E8734A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08087" y="6035040"/>
            <a:ext cx="1071511" cy="822960"/>
          </a:xfrm>
          <a:prstGeom prst="rect">
            <a:avLst/>
          </a:prstGeom>
          <a:solidFill>
            <a:srgbClr val="E8734A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216173" y="6309360"/>
            <a:ext cx="1071511" cy="548640"/>
          </a:xfrm>
          <a:prstGeom prst="rect">
            <a:avLst/>
          </a:prstGeom>
          <a:solidFill>
            <a:srgbClr val="E8734A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324260" y="5669280"/>
            <a:ext cx="1071511" cy="1188720"/>
          </a:xfrm>
          <a:prstGeom prst="rect">
            <a:avLst/>
          </a:prstGeom>
          <a:solidFill>
            <a:srgbClr val="E8734A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432346" y="6126480"/>
            <a:ext cx="1071511" cy="731520"/>
          </a:xfrm>
          <a:prstGeom prst="rect">
            <a:avLst/>
          </a:prstGeom>
          <a:solidFill>
            <a:srgbClr val="E8734A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540433" y="5394960"/>
            <a:ext cx="1071511" cy="1463040"/>
          </a:xfrm>
          <a:prstGeom prst="rect">
            <a:avLst/>
          </a:prstGeom>
          <a:solidFill>
            <a:srgbClr val="E8734A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648519" y="6217920"/>
            <a:ext cx="1071511" cy="640080"/>
          </a:xfrm>
          <a:prstGeom prst="rect">
            <a:avLst/>
          </a:prstGeom>
          <a:solidFill>
            <a:srgbClr val="E8734A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56606" y="5852160"/>
            <a:ext cx="1071511" cy="1005840"/>
          </a:xfrm>
          <a:prstGeom prst="rect">
            <a:avLst/>
          </a:prstGeom>
          <a:solidFill>
            <a:srgbClr val="E8734A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864692" y="6355080"/>
            <a:ext cx="1071511" cy="502920"/>
          </a:xfrm>
          <a:prstGeom prst="rect">
            <a:avLst/>
          </a:prstGeom>
          <a:solidFill>
            <a:srgbClr val="E8734A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972779" y="5943600"/>
            <a:ext cx="1071511" cy="914400"/>
          </a:xfrm>
          <a:prstGeom prst="rect">
            <a:avLst/>
          </a:prstGeom>
          <a:solidFill>
            <a:srgbClr val="E8734A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080865" y="6172200"/>
            <a:ext cx="1071511" cy="685800"/>
          </a:xfrm>
          <a:prstGeom prst="rect">
            <a:avLst/>
          </a:prstGeom>
          <a:solidFill>
            <a:srgbClr val="E8734A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21488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NYC AIRBNB MARKET ANALYSIS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22960" y="29718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D7EC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Pricing, Room Types, Neighbourhoods, and Host Behavior in New York City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22960" y="3657600"/>
            <a:ext cx="1280160" cy="27432"/>
          </a:xfrm>
          <a:prstGeom prst="rect">
            <a:avLst/>
          </a:prstGeom>
          <a:solidFill>
            <a:srgbClr val="E87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38404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7EC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AB_NYC_2019  |  Kaggle: dgomonov/new-york-city-airbnb-open-data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206240"/>
            <a:ext cx="9601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7EC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by: Basel Hatem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D7EC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   Abdelrahman Haitham</a:t>
            </a:r>
            <a:br>
              <a:rPr lang="en-US" sz="1400" dirty="0">
                <a:solidFill>
                  <a:srgbClr val="D7EC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400" dirty="0">
                <a:solidFill>
                  <a:srgbClr val="D7EC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   Mohamed Hossam</a:t>
            </a:r>
            <a:br>
              <a:rPr lang="en-US" sz="1400" dirty="0">
                <a:solidFill>
                  <a:srgbClr val="D7EC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400" dirty="0">
                <a:solidFill>
                  <a:srgbClr val="D7EC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   Abdallah Allam  </a:t>
            </a:r>
            <a:br>
              <a:rPr lang="en-US" sz="1400" dirty="0">
                <a:solidFill>
                  <a:srgbClr val="D7EC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400" dirty="0">
                <a:solidFill>
                  <a:srgbClr val="D7EC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Date: 27 / 8 /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61872" y="1691640"/>
            <a:ext cx="4590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4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61872" y="2011680"/>
            <a:ext cx="45902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how price, availability, and guest engagement vary across boroughs, neighbourhoods, room types, and host types.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61872" y="2971800"/>
            <a:ext cx="4590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4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61872" y="3291840"/>
            <a:ext cx="45902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is supply concentrated? Where are prices highest? Which listings get the most engagement? Do professional hosts behave differently from individual hosts?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297680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61872" y="4251960"/>
            <a:ext cx="4590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4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61872" y="4572000"/>
            <a:ext cx="45902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to a host deciding where and how to list, or an analyst tracking supply concentration and pricing power across the city.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0" y="1737360"/>
            <a:ext cx="5120640" cy="3108960"/>
          </a:xfrm>
          <a:prstGeom prst="roundRect">
            <a:avLst>
              <a:gd name="adj" fmla="val 2941"/>
            </a:avLst>
          </a:prstGeom>
          <a:solidFill>
            <a:srgbClr val="0B4F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75120" y="1965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OF THIS DATASET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0" y="237744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row per listing, as of 2019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Price, availability, and reviews — not confirmed bookings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 all 5 NYC boroughs, 221 neighbourhoods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study of supply &amp; engagement signals, not revenue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NYC Airbnb Market Analysis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5FAF9"/>
          </a:solidFill>
          <a:ln/>
          <a:effectLst>
            <a:outerShdw blurRad="76200" dist="25400" dir="5400000" algn="bl" rotWithShape="0">
              <a:srgbClr val="7FADA6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801368"/>
            <a:ext cx="233172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48,895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2404872"/>
            <a:ext cx="2331720" cy="451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Listings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0" y="169164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5FAF9"/>
          </a:solidFill>
          <a:ln/>
          <a:effectLst>
            <a:outerShdw blurRad="76200" dist="25400" dir="5400000" algn="bl" rotWithShape="0">
              <a:srgbClr val="7FADA6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11880" y="1801368"/>
            <a:ext cx="233172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11880" y="2404872"/>
            <a:ext cx="2331720" cy="451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Columns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69164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5FAF9"/>
          </a:solidFill>
          <a:ln/>
          <a:effectLst>
            <a:outerShdw blurRad="76200" dist="25400" dir="5400000" algn="bl" rotWithShape="0">
              <a:srgbClr val="7FADA6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46520" y="1801368"/>
            <a:ext cx="233172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446520" y="2404872"/>
            <a:ext cx="2331720" cy="451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NYC Boroughs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0" y="169164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5FAF9"/>
          </a:solidFill>
          <a:ln/>
          <a:effectLst>
            <a:outerShdw blurRad="76200" dist="25400" dir="5400000" algn="bl" rotWithShape="0">
              <a:srgbClr val="7FADA6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281160" y="1801368"/>
            <a:ext cx="2331720" cy="6537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221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281160" y="2404872"/>
            <a:ext cx="2331720" cy="451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Neighbourhoods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200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in the data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3611880"/>
            <a:ext cx="53949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fields: price, minimum_nights, number_of_reviews, reviews_per_month, availability_365, calculated_host_listings_count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fields: room_type (3 types), neighbourhood_group, neighbourhood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room types: Entire home/apt, Private room, Shared room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point-in-time snapshot of active listings — not a booking log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0" y="3200400"/>
            <a:ext cx="5120640" cy="2788920"/>
          </a:xfrm>
          <a:prstGeom prst="roundRect">
            <a:avLst>
              <a:gd name="adj" fmla="val 3279"/>
            </a:avLst>
          </a:prstGeom>
          <a:solidFill>
            <a:srgbClr val="D7EC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75120" y="33649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B4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TYPE MIX</a:t>
            </a:r>
            <a:endParaRPr lang="en-US" sz="1200" dirty="0"/>
          </a:p>
        </p:txBody>
      </p:sp>
      <p:graphicFrame>
        <p:nvGraphicFramePr>
          <p:cNvPr id="20" name="Chart 0"/>
          <p:cNvGraphicFramePr/>
          <p:nvPr>
            <p:extLst>
              <p:ext uri="{D42A27DB-BD31-4B8C-83A1-F6EECF244321}">
                <p14:modId xmlns:p14="http://schemas.microsoft.com/office/powerpoint/2010/main" val="2223085314"/>
              </p:ext>
            </p:extLst>
          </p:nvPr>
        </p:nvGraphicFramePr>
        <p:xfrm>
          <a:off x="6583680" y="3657600"/>
          <a:ext cx="475488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 18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NYC Airbnb Market Analysis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52144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&amp; Preparation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B4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VALUES BY COLUMN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2667506795"/>
              </p:ext>
            </p:extLst>
          </p:nvPr>
        </p:nvGraphicFramePr>
        <p:xfrm>
          <a:off x="502920" y="1874519"/>
          <a:ext cx="5486400" cy="24922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366726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last_review / reviews_per_month = listings with zero reviews, not broken data. Duplicates found: 0.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309360" y="16002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B4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 ACTIONS TAKEN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309360" y="1920240"/>
            <a:ext cx="53797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reviews_per_month missing → filled with 0 (no reviews yet)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last_review → converted from text to a proper date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host_name / name gaps (37 rows total) → filled with "Unknown"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listings (0.02%) with price = $0 → removed as invalid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48,895 rows → 48,884 rows after cleaning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NYC Airbnb Market Analysis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52144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These Metrics Relate to Each Other?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0" y="1307592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374136" y="1307592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min_nights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059936" y="1307592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num_ reviews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690871" y="1307592"/>
            <a:ext cx="766953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reviews/</a:t>
            </a:r>
            <a:r>
              <a:rPr lang="en-US" sz="800" dirty="0" err="1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376672" y="1307592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host_        listings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035040" y="1307592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325880" y="1691640"/>
            <a:ext cx="1325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0" y="1691640"/>
            <a:ext cx="630936" cy="630936"/>
          </a:xfrm>
          <a:prstGeom prst="rect">
            <a:avLst/>
          </a:prstGeom>
          <a:solidFill>
            <a:srgbClr val="0B4F6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2" name="Text 10"/>
          <p:cNvSpPr/>
          <p:nvPr/>
        </p:nvSpPr>
        <p:spPr>
          <a:xfrm>
            <a:off x="2743200" y="1691640"/>
            <a:ext cx="63093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01568" y="1691640"/>
            <a:ext cx="630936" cy="630936"/>
          </a:xfrm>
          <a:prstGeom prst="rect">
            <a:avLst/>
          </a:prstGeom>
          <a:solidFill>
            <a:srgbClr val="F4F9F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3401568" y="1691640"/>
            <a:ext cx="63093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0.04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059936" y="1691640"/>
            <a:ext cx="630936" cy="630936"/>
          </a:xfrm>
          <a:prstGeom prst="rect">
            <a:avLst/>
          </a:prstGeom>
          <a:solidFill>
            <a:srgbClr val="FCF3ED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6" name="Text 14"/>
          <p:cNvSpPr/>
          <p:nvPr/>
        </p:nvSpPr>
        <p:spPr>
          <a:xfrm>
            <a:off x="4059936" y="1691640"/>
            <a:ext cx="63093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-0.05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18304" y="1691640"/>
            <a:ext cx="630936" cy="630936"/>
          </a:xfrm>
          <a:prstGeom prst="rect">
            <a:avLst/>
          </a:prstGeom>
          <a:solidFill>
            <a:srgbClr val="FBF1E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4718304" y="1691640"/>
            <a:ext cx="63093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-0.05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376672" y="1691640"/>
            <a:ext cx="630936" cy="630936"/>
          </a:xfrm>
          <a:prstGeom prst="rect">
            <a:avLst/>
          </a:prstGeom>
          <a:solidFill>
            <a:srgbClr val="EFF6F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0" name="Text 18"/>
          <p:cNvSpPr/>
          <p:nvPr/>
        </p:nvSpPr>
        <p:spPr>
          <a:xfrm>
            <a:off x="5376672" y="1691640"/>
            <a:ext cx="63093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0.06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35040" y="1691640"/>
            <a:ext cx="630936" cy="630936"/>
          </a:xfrm>
          <a:prstGeom prst="rect">
            <a:avLst/>
          </a:prstGeom>
          <a:solidFill>
            <a:srgbClr val="E7F2E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2" name="Text 20"/>
          <p:cNvSpPr/>
          <p:nvPr/>
        </p:nvSpPr>
        <p:spPr>
          <a:xfrm>
            <a:off x="6035040" y="1691640"/>
            <a:ext cx="63093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0.08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325880" y="2350008"/>
            <a:ext cx="1325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min_nights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0" y="2350008"/>
            <a:ext cx="630936" cy="630936"/>
          </a:xfrm>
          <a:prstGeom prst="rect">
            <a:avLst/>
          </a:prstGeom>
          <a:solidFill>
            <a:srgbClr val="F4F9F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5" name="Text 23"/>
          <p:cNvSpPr/>
          <p:nvPr/>
        </p:nvSpPr>
        <p:spPr>
          <a:xfrm>
            <a:off x="2743200" y="2350008"/>
            <a:ext cx="63093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0.04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401568" y="2350008"/>
            <a:ext cx="630936" cy="630936"/>
          </a:xfrm>
          <a:prstGeom prst="rect">
            <a:avLst/>
          </a:prstGeom>
          <a:solidFill>
            <a:srgbClr val="0B4F6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7" name="Text 25"/>
          <p:cNvSpPr/>
          <p:nvPr/>
        </p:nvSpPr>
        <p:spPr>
          <a:xfrm>
            <a:off x="3401568" y="2350008"/>
            <a:ext cx="63093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059936" y="2350008"/>
            <a:ext cx="630936" cy="630936"/>
          </a:xfrm>
          <a:prstGeom prst="rect">
            <a:avLst/>
          </a:prstGeom>
          <a:solidFill>
            <a:srgbClr val="F8E9D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4059936" y="2350008"/>
            <a:ext cx="63093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-0.08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18304" y="2350008"/>
            <a:ext cx="630936" cy="630936"/>
          </a:xfrm>
          <a:prstGeom prst="rect">
            <a:avLst/>
          </a:prstGeom>
          <a:solidFill>
            <a:srgbClr val="F5DFD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1" name="Text 29"/>
          <p:cNvSpPr/>
          <p:nvPr/>
        </p:nvSpPr>
        <p:spPr>
          <a:xfrm>
            <a:off x="4718304" y="2350008"/>
            <a:ext cx="63093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-0.13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376672" y="2350008"/>
            <a:ext cx="630936" cy="630936"/>
          </a:xfrm>
          <a:prstGeom prst="rect">
            <a:avLst/>
          </a:prstGeom>
          <a:solidFill>
            <a:srgbClr val="D9ED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3" name="Text 31"/>
          <p:cNvSpPr/>
          <p:nvPr/>
        </p:nvSpPr>
        <p:spPr>
          <a:xfrm>
            <a:off x="5376672" y="2350008"/>
            <a:ext cx="63093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0.13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035040" y="2350008"/>
            <a:ext cx="630936" cy="630936"/>
          </a:xfrm>
          <a:prstGeom prst="rect">
            <a:avLst/>
          </a:prstGeom>
          <a:solidFill>
            <a:srgbClr val="D2E9E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5" name="Text 33"/>
          <p:cNvSpPr/>
          <p:nvPr/>
        </p:nvSpPr>
        <p:spPr>
          <a:xfrm>
            <a:off x="6035040" y="2350008"/>
            <a:ext cx="63093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0.14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325880" y="3008376"/>
            <a:ext cx="1325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num_reviews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0" y="3008376"/>
            <a:ext cx="630936" cy="630936"/>
          </a:xfrm>
          <a:prstGeom prst="rect">
            <a:avLst/>
          </a:prstGeom>
          <a:solidFill>
            <a:srgbClr val="FCF3ED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8" name="Text 36"/>
          <p:cNvSpPr/>
          <p:nvPr/>
        </p:nvSpPr>
        <p:spPr>
          <a:xfrm>
            <a:off x="2743200" y="3008376"/>
            <a:ext cx="63093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-0.05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401568" y="3008376"/>
            <a:ext cx="630936" cy="630936"/>
          </a:xfrm>
          <a:prstGeom prst="rect">
            <a:avLst/>
          </a:prstGeom>
          <a:solidFill>
            <a:srgbClr val="F8E9D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0" name="Text 38"/>
          <p:cNvSpPr/>
          <p:nvPr/>
        </p:nvSpPr>
        <p:spPr>
          <a:xfrm>
            <a:off x="3401568" y="3008376"/>
            <a:ext cx="63093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-0.08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059936" y="3008376"/>
            <a:ext cx="630936" cy="630936"/>
          </a:xfrm>
          <a:prstGeom prst="rect">
            <a:avLst/>
          </a:prstGeom>
          <a:solidFill>
            <a:srgbClr val="0B4F6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2" name="Text 40"/>
          <p:cNvSpPr/>
          <p:nvPr/>
        </p:nvSpPr>
        <p:spPr>
          <a:xfrm>
            <a:off x="4059936" y="3008376"/>
            <a:ext cx="63093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718304" y="3008376"/>
            <a:ext cx="630936" cy="630936"/>
          </a:xfrm>
          <a:prstGeom prst="rect">
            <a:avLst/>
          </a:prstGeom>
          <a:solidFill>
            <a:srgbClr val="3E7A7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4" name="Text 42"/>
          <p:cNvSpPr/>
          <p:nvPr/>
        </p:nvSpPr>
        <p:spPr>
          <a:xfrm>
            <a:off x="4718304" y="3008376"/>
            <a:ext cx="63093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0.59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376672" y="3008376"/>
            <a:ext cx="630936" cy="630936"/>
          </a:xfrm>
          <a:prstGeom prst="rect">
            <a:avLst/>
          </a:prstGeom>
          <a:solidFill>
            <a:srgbClr val="F9ECE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6" name="Text 44"/>
          <p:cNvSpPr/>
          <p:nvPr/>
        </p:nvSpPr>
        <p:spPr>
          <a:xfrm>
            <a:off x="5376672" y="3008376"/>
            <a:ext cx="63093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-0.07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035040" y="3008376"/>
            <a:ext cx="630936" cy="630936"/>
          </a:xfrm>
          <a:prstGeom prst="rect">
            <a:avLst/>
          </a:prstGeom>
          <a:solidFill>
            <a:srgbClr val="C0DED5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8" name="Text 46"/>
          <p:cNvSpPr/>
          <p:nvPr/>
        </p:nvSpPr>
        <p:spPr>
          <a:xfrm>
            <a:off x="6035040" y="3008376"/>
            <a:ext cx="63093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0.17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325880" y="3666744"/>
            <a:ext cx="1325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reviews/mo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743200" y="3666744"/>
            <a:ext cx="630936" cy="630936"/>
          </a:xfrm>
          <a:prstGeom prst="rect">
            <a:avLst/>
          </a:prstGeom>
          <a:solidFill>
            <a:srgbClr val="FBF1E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1" name="Text 49"/>
          <p:cNvSpPr/>
          <p:nvPr/>
        </p:nvSpPr>
        <p:spPr>
          <a:xfrm>
            <a:off x="2743200" y="3666744"/>
            <a:ext cx="63093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-0.05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3401568" y="3666744"/>
            <a:ext cx="630936" cy="630936"/>
          </a:xfrm>
          <a:prstGeom prst="rect">
            <a:avLst/>
          </a:prstGeom>
          <a:solidFill>
            <a:srgbClr val="F5DFD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3" name="Text 51"/>
          <p:cNvSpPr/>
          <p:nvPr/>
        </p:nvSpPr>
        <p:spPr>
          <a:xfrm>
            <a:off x="3401568" y="3666744"/>
            <a:ext cx="63093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-0.13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059936" y="3666744"/>
            <a:ext cx="630936" cy="630936"/>
          </a:xfrm>
          <a:prstGeom prst="rect">
            <a:avLst/>
          </a:prstGeom>
          <a:solidFill>
            <a:srgbClr val="3E7A7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5" name="Text 53"/>
          <p:cNvSpPr/>
          <p:nvPr/>
        </p:nvSpPr>
        <p:spPr>
          <a:xfrm>
            <a:off x="4059936" y="3666744"/>
            <a:ext cx="63093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0.59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718304" y="3666744"/>
            <a:ext cx="630936" cy="630936"/>
          </a:xfrm>
          <a:prstGeom prst="rect">
            <a:avLst/>
          </a:prstGeom>
          <a:solidFill>
            <a:srgbClr val="0B4F6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7" name="Text 55"/>
          <p:cNvSpPr/>
          <p:nvPr/>
        </p:nvSpPr>
        <p:spPr>
          <a:xfrm>
            <a:off x="4718304" y="3666744"/>
            <a:ext cx="63093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376672" y="3666744"/>
            <a:ext cx="630936" cy="630936"/>
          </a:xfrm>
          <a:prstGeom prst="rect">
            <a:avLst/>
          </a:prstGeom>
          <a:solidFill>
            <a:srgbClr val="FCF3ED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9" name="Text 57"/>
          <p:cNvSpPr/>
          <p:nvPr/>
        </p:nvSpPr>
        <p:spPr>
          <a:xfrm>
            <a:off x="5376672" y="3666744"/>
            <a:ext cx="63093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-0.05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035040" y="3666744"/>
            <a:ext cx="630936" cy="630936"/>
          </a:xfrm>
          <a:prstGeom prst="rect">
            <a:avLst/>
          </a:prstGeom>
          <a:solidFill>
            <a:srgbClr val="C7E1D9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61" name="Text 59"/>
          <p:cNvSpPr/>
          <p:nvPr/>
        </p:nvSpPr>
        <p:spPr>
          <a:xfrm>
            <a:off x="6035040" y="3666744"/>
            <a:ext cx="63093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0.16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1325880" y="4325112"/>
            <a:ext cx="1325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host_listings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2743200" y="4325112"/>
            <a:ext cx="630936" cy="630936"/>
          </a:xfrm>
          <a:prstGeom prst="rect">
            <a:avLst/>
          </a:prstGeom>
          <a:solidFill>
            <a:srgbClr val="EFF6F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64" name="Text 62"/>
          <p:cNvSpPr/>
          <p:nvPr/>
        </p:nvSpPr>
        <p:spPr>
          <a:xfrm>
            <a:off x="2743200" y="4325112"/>
            <a:ext cx="63093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0.06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3401568" y="4325112"/>
            <a:ext cx="630936" cy="630936"/>
          </a:xfrm>
          <a:prstGeom prst="rect">
            <a:avLst/>
          </a:prstGeom>
          <a:solidFill>
            <a:srgbClr val="D9EDE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66" name="Text 64"/>
          <p:cNvSpPr/>
          <p:nvPr/>
        </p:nvSpPr>
        <p:spPr>
          <a:xfrm>
            <a:off x="3401568" y="4325112"/>
            <a:ext cx="63093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0.13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4059936" y="4325112"/>
            <a:ext cx="630936" cy="630936"/>
          </a:xfrm>
          <a:prstGeom prst="rect">
            <a:avLst/>
          </a:prstGeom>
          <a:solidFill>
            <a:srgbClr val="F9ECE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68" name="Text 66"/>
          <p:cNvSpPr/>
          <p:nvPr/>
        </p:nvSpPr>
        <p:spPr>
          <a:xfrm>
            <a:off x="4059936" y="4325112"/>
            <a:ext cx="63093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-0.07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4718304" y="4325112"/>
            <a:ext cx="630936" cy="630936"/>
          </a:xfrm>
          <a:prstGeom prst="rect">
            <a:avLst/>
          </a:prstGeom>
          <a:solidFill>
            <a:srgbClr val="FCF3ED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70" name="Text 68"/>
          <p:cNvSpPr/>
          <p:nvPr/>
        </p:nvSpPr>
        <p:spPr>
          <a:xfrm>
            <a:off x="4718304" y="4325112"/>
            <a:ext cx="63093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-0.05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5376672" y="4325112"/>
            <a:ext cx="630936" cy="630936"/>
          </a:xfrm>
          <a:prstGeom prst="rect">
            <a:avLst/>
          </a:prstGeom>
          <a:solidFill>
            <a:srgbClr val="0B4F6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72" name="Text 70"/>
          <p:cNvSpPr/>
          <p:nvPr/>
        </p:nvSpPr>
        <p:spPr>
          <a:xfrm>
            <a:off x="5376672" y="4325112"/>
            <a:ext cx="63093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6035040" y="4325112"/>
            <a:ext cx="630936" cy="630936"/>
          </a:xfrm>
          <a:prstGeom prst="rect">
            <a:avLst/>
          </a:prstGeom>
          <a:solidFill>
            <a:srgbClr val="AAD2C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74" name="Text 72"/>
          <p:cNvSpPr/>
          <p:nvPr/>
        </p:nvSpPr>
        <p:spPr>
          <a:xfrm>
            <a:off x="6035040" y="4325112"/>
            <a:ext cx="63093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0.23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1325880" y="4983480"/>
            <a:ext cx="1325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2743200" y="4983480"/>
            <a:ext cx="630936" cy="630936"/>
          </a:xfrm>
          <a:prstGeom prst="rect">
            <a:avLst/>
          </a:prstGeom>
          <a:solidFill>
            <a:srgbClr val="E7F2E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77" name="Text 75"/>
          <p:cNvSpPr/>
          <p:nvPr/>
        </p:nvSpPr>
        <p:spPr>
          <a:xfrm>
            <a:off x="2743200" y="4983480"/>
            <a:ext cx="63093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0.08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3401568" y="4983480"/>
            <a:ext cx="630936" cy="630936"/>
          </a:xfrm>
          <a:prstGeom prst="rect">
            <a:avLst/>
          </a:prstGeom>
          <a:solidFill>
            <a:srgbClr val="D2E9E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79" name="Text 77"/>
          <p:cNvSpPr/>
          <p:nvPr/>
        </p:nvSpPr>
        <p:spPr>
          <a:xfrm>
            <a:off x="3401568" y="4983480"/>
            <a:ext cx="63093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0.14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4059936" y="4983480"/>
            <a:ext cx="630936" cy="630936"/>
          </a:xfrm>
          <a:prstGeom prst="rect">
            <a:avLst/>
          </a:prstGeom>
          <a:solidFill>
            <a:srgbClr val="C0DED5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81" name="Text 79"/>
          <p:cNvSpPr/>
          <p:nvPr/>
        </p:nvSpPr>
        <p:spPr>
          <a:xfrm>
            <a:off x="4059936" y="4983480"/>
            <a:ext cx="63093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0.17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4718304" y="4983480"/>
            <a:ext cx="630936" cy="630936"/>
          </a:xfrm>
          <a:prstGeom prst="rect">
            <a:avLst/>
          </a:prstGeom>
          <a:solidFill>
            <a:srgbClr val="C7E1D9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83" name="Text 81"/>
          <p:cNvSpPr/>
          <p:nvPr/>
        </p:nvSpPr>
        <p:spPr>
          <a:xfrm>
            <a:off x="4718304" y="4983480"/>
            <a:ext cx="63093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0.16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5376672" y="4983480"/>
            <a:ext cx="630936" cy="630936"/>
          </a:xfrm>
          <a:prstGeom prst="rect">
            <a:avLst/>
          </a:prstGeom>
          <a:solidFill>
            <a:srgbClr val="AAD2C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85" name="Text 83"/>
          <p:cNvSpPr/>
          <p:nvPr/>
        </p:nvSpPr>
        <p:spPr>
          <a:xfrm>
            <a:off x="5376672" y="4983480"/>
            <a:ext cx="63093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0.23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6035040" y="4983480"/>
            <a:ext cx="630936" cy="630936"/>
          </a:xfrm>
          <a:prstGeom prst="rect">
            <a:avLst/>
          </a:prstGeom>
          <a:solidFill>
            <a:srgbClr val="0B4F6C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87" name="Text 85"/>
          <p:cNvSpPr/>
          <p:nvPr/>
        </p:nvSpPr>
        <p:spPr>
          <a:xfrm>
            <a:off x="6035040" y="4983480"/>
            <a:ext cx="63093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D7EC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731520" y="5806440"/>
            <a:ext cx="10698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one strong relationship: number_of_reviews vs. reviews_per_month (r = 0.59) — expected, since one is derived from the other. Price barely correlates with anything else (r ≤ 0.08).</a:t>
            </a:r>
            <a:endParaRPr lang="en-US" sz="1200" dirty="0"/>
          </a:p>
        </p:txBody>
      </p:sp>
      <p:sp>
        <p:nvSpPr>
          <p:cNvPr id="90" name="Text 88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NYC Airbnb Market Analysis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1152144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Are NYC Airbnb Listings Concentrated?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66751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82880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0B4F6C"/>
          </a:solidFill>
          <a:ln/>
          <a:effectLst>
            <a:outerShdw blurRad="76200" dist="25400" dir="5400000" algn="bl" rotWithShape="0">
              <a:srgbClr val="7FADA6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635240" y="19659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85.4%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635240" y="27889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7EC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all listings are in Manhattan + Brooklyn combined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0" y="3749040"/>
            <a:ext cx="4389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Manhattan: 44.3% (21,661 listings)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Brooklyn: 41.1% (20,104 listings)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Queens: 11.6%, Bronx: 2.2%, Staten Island: 0.8%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NYC Airbnb Market Analysis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52144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Manhattan Commands the Highest Airbnb Prices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408133814"/>
              </p:ext>
            </p:extLst>
          </p:nvPr>
        </p:nvGraphicFramePr>
        <p:xfrm>
          <a:off x="548640" y="1691640"/>
          <a:ext cx="78638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686800" y="1691640"/>
            <a:ext cx="2971800" cy="4206240"/>
          </a:xfrm>
          <a:prstGeom prst="roundRect">
            <a:avLst>
              <a:gd name="adj" fmla="val 3077"/>
            </a:avLst>
          </a:prstGeom>
          <a:solidFill>
            <a:srgbClr val="F5FA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869680" y="1874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 on the medians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869680" y="2286000"/>
            <a:ext cx="26517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is below average in every borough — a tail of high-priced listings pulls the average up.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Staten Island (n=373) looks pricier than Queens (n=5,666) on average, but its small sample makes that comparison less reliable.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NYC Airbnb Market Analysis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 Type Drives Price More Than Almost Anything Else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842444974"/>
              </p:ext>
            </p:extLst>
          </p:nvPr>
        </p:nvGraphicFramePr>
        <p:xfrm>
          <a:off x="457200" y="1691640"/>
          <a:ext cx="73152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092440" y="169164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0B4F6C"/>
          </a:solidFill>
          <a:ln/>
          <a:effectLst>
            <a:outerShdw blurRad="76200" dist="25400" dir="5400000" algn="bl" rotWithShape="0">
              <a:srgbClr val="7FADA6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29600" y="1810512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$249.26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229600" y="2542032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7EC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Highest-priced segment: Manhattan Entire home/apt (13,198 listings)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092440" y="338328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Entire home/apt: 51.9% of listings, avg $211.81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room: 45.7%, avg $89.81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room: 2.4%, avg $70.25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Manhattan is 61% Entire home/apt — other boroughs run closer to a 50/50 split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NYC Airbnb Market Analysis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52144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Reviews and Availability Don't Move Together Very Strongly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185622102"/>
              </p:ext>
            </p:extLst>
          </p:nvPr>
        </p:nvGraphicFramePr>
        <p:xfrm>
          <a:off x="548640" y="1737360"/>
          <a:ext cx="74980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321040" y="1737360"/>
            <a:ext cx="3337560" cy="4114800"/>
          </a:xfrm>
          <a:prstGeom prst="roundRect">
            <a:avLst>
              <a:gd name="adj" fmla="val 2740"/>
            </a:avLst>
          </a:prstGeom>
          <a:solidFill>
            <a:srgbClr val="F5FA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503920" y="19659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0.17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8503920" y="26060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between availability_365 and number_of_reviews (weak positive)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503920" y="3429000"/>
            <a:ext cx="2971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rooms get the most reviews on average, despite similar availability to entire homes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rooms sit open the most (161.9 days) but get reviewed the least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NYC Airbnb Market Analysis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52144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NEIGHBOURHOODS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Volume vs. Guest Engagement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B4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BY LISTINGS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3904282398"/>
              </p:ext>
            </p:extLst>
          </p:nvPr>
        </p:nvGraphicFramePr>
        <p:xfrm>
          <a:off x="365760" y="1828800"/>
          <a:ext cx="566928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6002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B4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BY AVG. REVIEWS (ENGAGEMENT)</a:t>
            </a:r>
            <a:endParaRPr lang="en-US" sz="1100" dirty="0"/>
          </a:p>
        </p:txBody>
      </p:sp>
      <p:graphicFrame>
        <p:nvGraphicFramePr>
          <p:cNvPr id="7" name="Chart 1"/>
          <p:cNvGraphicFramePr/>
          <p:nvPr>
            <p:extLst>
              <p:ext uri="{D42A27DB-BD31-4B8C-83A1-F6EECF244321}">
                <p14:modId xmlns:p14="http://schemas.microsoft.com/office/powerpoint/2010/main" val="2679285507"/>
              </p:ext>
            </p:extLst>
          </p:nvPr>
        </p:nvGraphicFramePr>
        <p:xfrm>
          <a:off x="6126480" y="1828800"/>
          <a:ext cx="566928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5216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D7EC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731520" y="5852160"/>
            <a:ext cx="10698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high-engagement neighbourhoods have tiny sample sizes — East Elmhurst (185) and Springfield Gardens (85) are the only two with enough volume to trust.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NYC Airbnb Market Analysis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52144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 Hosts Are a Meaningful Part of the Market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536111358"/>
              </p:ext>
            </p:extLst>
          </p:nvPr>
        </p:nvGraphicFramePr>
        <p:xfrm>
          <a:off x="548640" y="1691640"/>
          <a:ext cx="69494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828800"/>
            <a:ext cx="3794760" cy="1554480"/>
          </a:xfrm>
          <a:prstGeom prst="roundRect">
            <a:avLst>
              <a:gd name="adj" fmla="val 4706"/>
            </a:avLst>
          </a:prstGeom>
          <a:solidFill>
            <a:srgbClr val="0B4F6C"/>
          </a:solidFill>
          <a:ln/>
          <a:effectLst>
            <a:outerShdw blurRad="76200" dist="25400" dir="5400000" algn="bl" rotWithShape="0">
              <a:srgbClr val="7FADA6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909560" y="196596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783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863840" y="283464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7EC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listings belong to hosts managing 100+ properties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0" y="374904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Sonder (NYC) leads with 327 listings, then Blueground with 232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 like Sonder, Blueground, and Corporate Housing are property-management-style operators, not individual hosts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NYC Airbnb Market Analysis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52144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 Portfolio Size Changes Pricing and Engagement Strategy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B4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PRICE ($)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874520"/>
          <a:ext cx="56692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6002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B4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REVIEWS</a:t>
            </a:r>
            <a:endParaRPr lang="en-US" sz="11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6126480" y="1874520"/>
          <a:ext cx="56692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3492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D7EC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731520" y="5349240"/>
            <a:ext cx="10698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   </a:t>
            </a: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portfolio size grows, price and availability climb — avg. availability rises from 78.9 days (1 listing) to 283.1 days (50+ listings) — but average reviews collapse, from 35.3 (2-5 listings) down to just 1.9 (50+ listings). No booking data exists to confirm this means lower occupancy.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NYC Airbnb Market Analysis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52144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TERMS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Minimum Stay Requirements Track With Engagement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523722927"/>
              </p:ext>
            </p:extLst>
          </p:nvPr>
        </p:nvGraphicFramePr>
        <p:xfrm>
          <a:off x="548640" y="1691640"/>
          <a:ext cx="74980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NYC Airbnb Market Analysis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TIER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the Top 10% of the Market Look Like?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threshold: $269/night (90th percentile of price)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965960"/>
          <a:ext cx="69494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965960"/>
            <a:ext cx="3840480" cy="3931920"/>
          </a:xfrm>
          <a:prstGeom prst="roundRect">
            <a:avLst>
              <a:gd name="adj" fmla="val 2381"/>
            </a:avLst>
          </a:prstGeom>
          <a:solidFill>
            <a:srgbClr val="F5FA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955280" y="21488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~90%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7955280" y="27889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premium listings (4,416 of 4,911) are Entire home/apt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955280" y="352044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Private room (n=466) and Shared room (n=29) segments are tiny — their higher medians ($399.50, $400) reflect a handful of atypical listings, not a real market pattern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NYC Airbnb Market Analysis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61872" y="1645920"/>
            <a:ext cx="10351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61872" y="1736290"/>
            <a:ext cx="1035100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Manhattan and Brooklyn account for 85.4% of all listings — the market is geographically concentrated.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61872" y="2423160"/>
            <a:ext cx="10351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61872" y="2509542"/>
            <a:ext cx="1035100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Manhattan Entire home/apt is the single highest-priced segment, averaging $249.26/night.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61872" y="3200400"/>
            <a:ext cx="10351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61872" y="3337560"/>
            <a:ext cx="1035100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type is a stronger price lever than location alone — entire homes cost roughly 2.4x private rooms citywide.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61872" y="3977640"/>
            <a:ext cx="10351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61872" y="4023360"/>
            <a:ext cx="10351008" cy="4561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portfolio size reshapes strategy: reviews fall from 35.3 (2-5 listings) to 1.9 (50+ listings) as price and availability rise.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4800600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61872" y="4754880"/>
            <a:ext cx="10351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61872" y="4845250"/>
            <a:ext cx="1035100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minimum-stay listings (1-3 nights) get nearly double the reviews of long minimum-stay listings (8+ nights).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0080" y="5577840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" y="5577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61872" y="5532120"/>
            <a:ext cx="10351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61872" y="5531050"/>
            <a:ext cx="1035100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and engagement aren't strongly tied to availability or minimum nights alone (all correlations under 0.23) — room type, borough, and host segment are the real differentiators.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NYC Airbnb Market Analysis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Numbers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5FAF9"/>
          </a:solidFill>
          <a:ln/>
          <a:effectLst>
            <a:outerShdw blurRad="76200" dist="25400" dir="5400000" algn="bl" rotWithShape="0">
              <a:srgbClr val="7FADA6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801368"/>
            <a:ext cx="2423160" cy="108127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48,884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2871216"/>
            <a:ext cx="2423160" cy="7470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Listings Analyzed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169164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5FAF9"/>
          </a:solidFill>
          <a:ln/>
          <a:effectLst>
            <a:outerShdw blurRad="76200" dist="25400" dir="5400000" algn="bl" rotWithShape="0">
              <a:srgbClr val="7FADA6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66160" y="1801368"/>
            <a:ext cx="2423160" cy="108127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$152.72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566160" y="2871216"/>
            <a:ext cx="2423160" cy="7470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Avg. Price / Night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69164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5FAF9"/>
          </a:solidFill>
          <a:ln/>
          <a:effectLst>
            <a:outerShdw blurRad="76200" dist="25400" dir="5400000" algn="bl" rotWithShape="0">
              <a:srgbClr val="7FADA6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46520" y="1801368"/>
            <a:ext cx="2423160" cy="108127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$249.26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46520" y="2871216"/>
            <a:ext cx="2423160" cy="7470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Highest-Priced Segment (Manhattan, Entire Home)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89720" y="169164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5FAF9"/>
          </a:solidFill>
          <a:ln/>
          <a:effectLst>
            <a:outerShdw blurRad="76200" dist="25400" dir="5400000" algn="bl" rotWithShape="0">
              <a:srgbClr val="7FADA6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326880" y="1801368"/>
            <a:ext cx="2423160" cy="108127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24.1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326880" y="2871216"/>
            <a:ext cx="2423160" cy="7470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Reviews — Private Room (Top Engagement)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5FAF9"/>
          </a:solidFill>
          <a:ln/>
          <a:effectLst>
            <a:outerShdw blurRad="76200" dist="25400" dir="5400000" algn="bl" rotWithShape="0">
              <a:srgbClr val="7FADA6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3995928"/>
            <a:ext cx="2423160" cy="108127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51.97%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85800" y="5065776"/>
            <a:ext cx="2423160" cy="7470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Common Room Type (Entire Home/Apt)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29000" y="388620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5FAF9"/>
          </a:solidFill>
          <a:ln/>
          <a:effectLst>
            <a:outerShdw blurRad="76200" dist="25400" dir="5400000" algn="bl" rotWithShape="0">
              <a:srgbClr val="7FADA6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566160" y="3995928"/>
            <a:ext cx="2423160" cy="108127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2.25x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566160" y="5065776"/>
            <a:ext cx="2423160" cy="7470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Gap: Manhattan vs. Bronx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9360" y="388620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5FAF9"/>
          </a:solidFill>
          <a:ln/>
          <a:effectLst>
            <a:outerShdw blurRad="76200" dist="25400" dir="5400000" algn="bl" rotWithShape="0">
              <a:srgbClr val="7FADA6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46520" y="3995928"/>
            <a:ext cx="2423160" cy="108127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35.3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446520" y="5065776"/>
            <a:ext cx="2423160" cy="7470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Reviews — 2-5 Listing Hosts (Top Segment)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89720" y="388620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5FAF9"/>
          </a:solidFill>
          <a:ln/>
          <a:effectLst>
            <a:outerShdw blurRad="76200" dist="25400" dir="5400000" algn="bl" rotWithShape="0">
              <a:srgbClr val="7FADA6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326880" y="3995928"/>
            <a:ext cx="2423160" cy="108127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85.4%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326880" y="5065776"/>
            <a:ext cx="2423160" cy="7470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Share: Manhattan + Brooklyn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NYC Airbnb Market Analysis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5FA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411480" cy="411480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8745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71600" y="207568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4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Manhattan/Brooklyn dominate supply and pricing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realistic price expectations before listing in the two core boroughs; the outer boroughs carry thinner demand signals in this data.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5FA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92240" y="1920240"/>
            <a:ext cx="411480" cy="411480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92240" y="1920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86600" y="18745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86600" y="207568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4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Large-portfolio hosts price high, review low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37960" y="2651760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conclude they're underperforming — pull real booking/occupancy data before drawing a revenue conclusion this dataset can't support.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5FA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77240" y="4343400"/>
            <a:ext cx="411480" cy="411480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4343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71600" y="429768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71600" y="449884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4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minimum stays correlate with more reviews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5074920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Hosts prioritizing engagement should consider shorter minimum-stay requirements where feasible.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63640" y="411480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5FA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92240" y="4343400"/>
            <a:ext cx="411480" cy="411480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92240" y="4343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86600" y="429768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086600" y="4498848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4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Elmhurst &amp; Springfield Gardens show real engagement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37960" y="5074920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Worth a dedicated follow-up look — a credible growth opportunity outside the saturated core.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NYC Airbnb Market Analysis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CAVEATS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10512"/>
            <a:ext cx="256032" cy="256032"/>
          </a:xfrm>
          <a:prstGeom prst="ellipse">
            <a:avLst/>
          </a:prstGeom>
          <a:solidFill>
            <a:srgbClr val="E87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8105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4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17830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booking, occupancy, or revenue data — reviews and availability are indirect engagement proxies, not confirmed demand.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523744"/>
            <a:ext cx="256032" cy="256032"/>
          </a:xfrm>
          <a:prstGeom prst="ellipse">
            <a:avLst/>
          </a:prstGeom>
          <a:solidFill>
            <a:srgbClr val="E87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5237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4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249631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 snapshot — a single point in time; NYC's short-term rental market and regulations have changed substantially since then.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236976"/>
            <a:ext cx="256032" cy="256032"/>
          </a:xfrm>
          <a:prstGeom prst="ellipse">
            <a:avLst/>
          </a:prstGeom>
          <a:solidFill>
            <a:srgbClr val="E87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32369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4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3209544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is not causation — relationships shown (e.g., availability vs. reviews) were not tested for causal direction.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950208"/>
            <a:ext cx="256032" cy="256032"/>
          </a:xfrm>
          <a:prstGeom prst="ellipse">
            <a:avLst/>
          </a:prstGeom>
          <a:solidFill>
            <a:srgbClr val="E87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9502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4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3922776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neighbourhood-level and premium-segment findings rest on very small sample sizes and shouldn't be over-generalized.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663440"/>
            <a:ext cx="256032" cy="256032"/>
          </a:xfrm>
          <a:prstGeom prst="ellipse">
            <a:avLst/>
          </a:prstGeom>
          <a:solidFill>
            <a:srgbClr val="E87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46634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4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463600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14 extreme minimum-stay listings (up to 1,250 days) were flagged but not actually removed from the cleaned data — treat the 30+ Nights group's price average accordingly.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376672"/>
            <a:ext cx="256032" cy="256032"/>
          </a:xfrm>
          <a:prstGeom prst="ellipse">
            <a:avLst/>
          </a:prstGeom>
          <a:solidFill>
            <a:srgbClr val="E87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53766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4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53492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significance was not formally tested anywhere in this analysis — differences described as "higher" or "lower" are descriptive, not confirmed via hypothesis testing.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NYC Airbnb Market Analysis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C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4F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071511" cy="457200"/>
          </a:xfrm>
          <a:prstGeom prst="rect">
            <a:avLst/>
          </a:prstGeom>
          <a:solidFill>
            <a:srgbClr val="E8734A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08087" y="6035040"/>
            <a:ext cx="1071511" cy="822960"/>
          </a:xfrm>
          <a:prstGeom prst="rect">
            <a:avLst/>
          </a:prstGeom>
          <a:solidFill>
            <a:srgbClr val="E8734A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216173" y="6309360"/>
            <a:ext cx="1071511" cy="548640"/>
          </a:xfrm>
          <a:prstGeom prst="rect">
            <a:avLst/>
          </a:prstGeom>
          <a:solidFill>
            <a:srgbClr val="E8734A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324260" y="5669280"/>
            <a:ext cx="1071511" cy="1188720"/>
          </a:xfrm>
          <a:prstGeom prst="rect">
            <a:avLst/>
          </a:prstGeom>
          <a:solidFill>
            <a:srgbClr val="E8734A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432346" y="6126480"/>
            <a:ext cx="1071511" cy="731520"/>
          </a:xfrm>
          <a:prstGeom prst="rect">
            <a:avLst/>
          </a:prstGeom>
          <a:solidFill>
            <a:srgbClr val="E8734A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540433" y="5394960"/>
            <a:ext cx="1071511" cy="1463040"/>
          </a:xfrm>
          <a:prstGeom prst="rect">
            <a:avLst/>
          </a:prstGeom>
          <a:solidFill>
            <a:srgbClr val="E8734A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648519" y="6217920"/>
            <a:ext cx="1071511" cy="640080"/>
          </a:xfrm>
          <a:prstGeom prst="rect">
            <a:avLst/>
          </a:prstGeom>
          <a:solidFill>
            <a:srgbClr val="E8734A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56606" y="5852160"/>
            <a:ext cx="1071511" cy="1005840"/>
          </a:xfrm>
          <a:prstGeom prst="rect">
            <a:avLst/>
          </a:prstGeom>
          <a:solidFill>
            <a:srgbClr val="E8734A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864692" y="6355080"/>
            <a:ext cx="1071511" cy="502920"/>
          </a:xfrm>
          <a:prstGeom prst="rect">
            <a:avLst/>
          </a:prstGeom>
          <a:solidFill>
            <a:srgbClr val="E8734A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972779" y="5943600"/>
            <a:ext cx="1071511" cy="914400"/>
          </a:xfrm>
          <a:prstGeom prst="rect">
            <a:avLst/>
          </a:prstGeom>
          <a:solidFill>
            <a:srgbClr val="E8734A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080865" y="6172200"/>
            <a:ext cx="1071511" cy="685800"/>
          </a:xfrm>
          <a:prstGeom prst="rect">
            <a:avLst/>
          </a:prstGeom>
          <a:solidFill>
            <a:srgbClr val="E8734A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105156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 and Room Type Matter More Than Anything Else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22960" y="2103120"/>
            <a:ext cx="10332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D7EC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NYC's Airbnb market is concentrated in Manhattan and Brooklyn, and price is driven primarily by borough and room type — not availability, minimum stay, or host portfolio size directly.</a:t>
            </a:r>
            <a:endParaRPr lang="en-US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D7EC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behavior clearly segments by portfolio size: individual and small multi-listing hosts optimize differently than large-scale operators, who price higher and prioritize availability over review volume.</a:t>
            </a:r>
            <a:endParaRPr lang="en-US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D7EC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type and location decisions matter far more to pricing than operational choices like minimum stay — but claims about actual bookings or revenue require data this dataset doesn't contain.</a:t>
            </a:r>
            <a:endParaRPr lang="en-US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D7EC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step: pair this listing-level data with booking/occupancy data to convert these engagement-based insights into confirmed demand and revenue insights.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960" y="64922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7EC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NYC Airbnb Market Analysis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7EC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2336</Words>
  <Application>Microsoft Office PowerPoint</Application>
  <PresentationFormat>Widescreen</PresentationFormat>
  <Paragraphs>296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Hana Haitham</cp:lastModifiedBy>
  <cp:revision>2</cp:revision>
  <dcterms:created xsi:type="dcterms:W3CDTF">2026-08-26T21:06:03Z</dcterms:created>
  <dcterms:modified xsi:type="dcterms:W3CDTF">2026-08-27T02:54:22Z</dcterms:modified>
</cp:coreProperties>
</file>